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4400" b="1">
                <a:solidFill>
                  <a:srgbClr val="FFFFFF"/>
                </a:solidFill>
              </a:defRPr>
            </a:pPr>
            <a:r>
              <a:t>Hidden entrepreneurs in card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C3C2B7"/>
                </a:solidFill>
              </a:defRPr>
            </a:pPr>
            <a:r>
              <a:t>Detecting commercial activity on consumer cards</a:t>
            </a:r>
          </a:p>
          <a:p>
            <a:pPr>
              <a:spcAft>
                <a:spcPts val="600"/>
              </a:spcAft>
              <a:defRPr sz="2000" b="0">
                <a:solidFill>
                  <a:srgbClr val="C3C2B7"/>
                </a:solidFill>
              </a:defRPr>
            </a:pPr>
            <a:r>
              <a:t>Mastercard Data Quest 2026 · AIESEC in Almaty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846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EB6834"/>
                </a:solidFill>
              </a:defRPr>
            </a:pPr>
            <a:r>
              <a:t>14,440 of 80,000 consumer cards (18%) run a business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EB6834"/>
                </a:solidFill>
              </a:defRPr>
            </a:pPr>
            <a:r>
              <a:t>THE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B0B0B"/>
                </a:solidFill>
              </a:defRPr>
            </a:pPr>
            <a:r>
              <a:t>Find people who run a business through a personal 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0B0B0B"/>
                </a:solidFill>
              </a:defRPr>
            </a:pPr>
            <a:r>
              <a:t>Who: sole traders and self-employed people who sell through ordinary consumer cards.</a:t>
            </a:r>
          </a:p>
          <a:p>
            <a:pPr>
              <a:spcAft>
                <a:spcPts val="600"/>
              </a:spcAft>
              <a:defRPr sz="1800" b="0">
                <a:solidFill>
                  <a:srgbClr val="0B0B0B"/>
                </a:solidFill>
              </a:defRPr>
            </a:pPr>
            <a:r>
              <a:t>Goal: a predictive ML model that spots this hidden commercial activity reliably and fast.</a:t>
            </a:r>
          </a:p>
          <a:p>
            <a:pPr>
              <a:spcAft>
                <a:spcPts val="600"/>
              </a:spcAft>
              <a:defRPr sz="1800" b="0">
                <a:solidFill>
                  <a:srgbClr val="0B0B0B"/>
                </a:solidFill>
              </a:defRPr>
            </a:pPr>
            <a:r>
              <a:t>No label: nothing in the data says a consumer is an entrepreneur.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B0B0B"/>
                </a:solidFill>
              </a:defRPr>
            </a:pPr>
            <a:r>
              <a:t>Why the bank cares</a:t>
            </a:r>
          </a:p>
          <a:p>
            <a:pPr>
              <a:spcAft>
                <a:spcPts val="600"/>
              </a:spcAft>
              <a:defRPr sz="1800" b="0">
                <a:solidFill>
                  <a:srgbClr val="0B0B0B"/>
                </a:solidFill>
              </a:defRPr>
            </a:pPr>
            <a:r>
              <a:t>Business tariffs: higher fees and POS acquiring revenue.</a:t>
            </a:r>
          </a:p>
          <a:p>
            <a:pPr>
              <a:spcAft>
                <a:spcPts val="600"/>
              </a:spcAft>
              <a:defRPr sz="1800" b="0">
                <a:solidFill>
                  <a:srgbClr val="0B0B0B"/>
                </a:solidFill>
              </a:defRPr>
            </a:pPr>
            <a:r>
              <a:t>Cross-sell: working-capital loans, payroll projects, merchant acquiring, cash registers.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EB6834"/>
                </a:solidFill>
              </a:defRPr>
            </a:pPr>
            <a: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B0B0B"/>
                </a:solidFill>
              </a:defRPr>
            </a:pPr>
            <a:r>
              <a:t>12.8M transactions, one data-quality fix that matters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56692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417320"/>
                <a:gridCol w="1417320"/>
              </a:tblGrid>
              <a:tr h="3657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Cards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Transactions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Business</a:t>
                      </a:r>
                    </a:p>
                  </a:txBody>
                  <a:tcPr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25,000</a:t>
                      </a:r>
                    </a:p>
                  </a:txBody>
                  <a:tcPr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2,997,593</a:t>
                      </a:r>
                    </a:p>
                  </a:txBody>
                  <a:tcPr>
                    <a:solidFill>
                      <a:srgbClr val="F4F3E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Consumer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80,000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9,832,487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Merchants (reference)</a:t>
                      </a:r>
                    </a:p>
                  </a:txBody>
                  <a:tcPr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2,165</a:t>
                      </a:r>
                    </a:p>
                  </a:txBody>
                  <a:tcPr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B0B0B"/>
                          </a:solidFill>
                        </a:defRPr>
                      </a:pPr>
                    </a:p>
                  </a:txBody>
                  <a:tcPr>
                    <a:solidFill>
                      <a:srgbClr val="F4F3E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0B0B0B"/>
                </a:solidFill>
              </a:defRPr>
            </a:pPr>
            <a:r>
              <a:t>60,851 ad-platform payments coded 7012 (timeshares); merchant master says 7311 (ads). Fixed from the master.</a:t>
            </a:r>
          </a:p>
          <a:p>
            <a:pPr>
              <a:spcAft>
                <a:spcPts val="600"/>
              </a:spcAft>
              <a:defRPr sz="1600" b="0">
                <a:solidFill>
                  <a:srgbClr val="0B0B0B"/>
                </a:solidFill>
              </a:defRPr>
            </a:pPr>
            <a:r>
              <a:t>12,831 purchases above 2.26M KZT kept: big tickets are normal for a business. Features use medians and logs.</a:t>
            </a:r>
          </a:p>
          <a:p>
            <a:pPr>
              <a:spcAft>
                <a:spcPts val="600"/>
              </a:spcAft>
              <a:defRPr sz="1600" b="0">
                <a:solidFill>
                  <a:srgbClr val="0B0B0B"/>
                </a:solidFill>
              </a:defRPr>
            </a:pPr>
            <a:r>
              <a:t>No duplicates, nulls or non-positive amounts; every merchant found in the reference.</a:t>
            </a:r>
          </a:p>
          <a:p>
            <a:pPr>
              <a:spcAft>
                <a:spcPts val="600"/>
              </a:spcAft>
              <a:defRPr sz="1600" b="0">
                <a:solidFill>
                  <a:srgbClr val="0B0B0B"/>
                </a:solidFill>
              </a:defRPr>
            </a:pPr>
            <a:r>
              <a:t>Oct 2025 to Mar 2026, synthetic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EB6834"/>
                </a:solidFill>
              </a:defRPr>
            </a:pPr>
            <a:r>
              <a:t>THE TRAP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B0B0B"/>
                </a:solidFill>
              </a:defRPr>
            </a:pPr>
            <a:r>
              <a:t>The obvious model scores AUC ≈ 1.0 and finds 6 people</a:t>
            </a:r>
          </a:p>
        </p:txBody>
      </p:sp>
      <p:pic>
        <p:nvPicPr>
          <p:cNvPr id="5" name="Picture 4" descr="01_naive_tr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7955279" cy="40912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78240" y="164592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0B0B0B"/>
                </a:solidFill>
              </a:defRPr>
            </a:pPr>
            <a:r>
              <a:t>Business vs consumer is too easy: business cards here never buy groceries.</a:t>
            </a:r>
          </a:p>
          <a:p>
            <a:pPr>
              <a:spcAft>
                <a:spcPts val="600"/>
              </a:spcAft>
              <a:defRPr sz="1500" b="0">
                <a:solidFill>
                  <a:srgbClr val="0B0B0B"/>
                </a:solidFill>
              </a:defRPr>
            </a:pPr>
            <a:r>
              <a:t>The model learns the card product, not the behaviour.</a:t>
            </a:r>
          </a:p>
          <a:p>
            <a:pPr>
              <a:spcAft>
                <a:spcPts val="600"/>
              </a:spcAft>
              <a:defRPr sz="1500" b="0">
                <a:solidFill>
                  <a:srgbClr val="0B0B0B"/>
                </a:solidFill>
              </a:defRPr>
            </a:pPr>
            <a:r>
              <a:t>A hidden entrepreneur buys groceries on the same card, so this model calls them a consumer.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EB6834"/>
                </a:solidFill>
              </a:defRPr>
            </a:pPr>
            <a:r>
              <a:t>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B0B0B"/>
                </a:solidFill>
              </a:defRPr>
            </a:pPr>
            <a:r>
              <a:t>Weak supervision: label only where two independent views agree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783080" cy="1463040"/>
          </a:xfrm>
          <a:prstGeom prst="rect">
            <a:avLst/>
          </a:prstGeom>
          <a:solidFill>
            <a:srgbClr val="F4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600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B0B0B"/>
                </a:solidFill>
              </a:defRPr>
            </a:pPr>
            <a:r>
              <a:t>1  Clean</a:t>
            </a:r>
          </a:p>
          <a:p>
            <a:pPr>
              <a:spcAft>
                <a:spcPts val="600"/>
              </a:spcAft>
              <a:defRPr sz="1400" b="0">
                <a:solidFill>
                  <a:srgbClr val="0B0B0B"/>
                </a:solidFill>
              </a:defRPr>
            </a:pPr>
            <a:r>
              <a:t>MCC fix, outliers kept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80" y="1828800"/>
            <a:ext cx="1783080" cy="1463040"/>
          </a:xfrm>
          <a:prstGeom prst="rect">
            <a:avLst/>
          </a:prstGeom>
          <a:solidFill>
            <a:srgbClr val="F4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920240"/>
            <a:ext cx="1600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B0B0B"/>
                </a:solidFill>
              </a:defRPr>
            </a:pPr>
            <a:r>
              <a:t>2  Features</a:t>
            </a:r>
          </a:p>
          <a:p>
            <a:pPr>
              <a:spcAft>
                <a:spcPts val="600"/>
              </a:spcAft>
              <a:defRPr sz="1400" b="0">
                <a:solidFill>
                  <a:srgbClr val="0B0B0B"/>
                </a:solidFill>
              </a:defRPr>
            </a:pPr>
            <a:r>
              <a:t>49 per card, MCC groups by ISO meaning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828800"/>
            <a:ext cx="1783080" cy="1463040"/>
          </a:xfrm>
          <a:prstGeom prst="rect">
            <a:avLst/>
          </a:prstGeom>
          <a:solidFill>
            <a:srgbClr val="F4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920240"/>
            <a:ext cx="1600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B0B0B"/>
                </a:solidFill>
              </a:defRPr>
            </a:pPr>
            <a:r>
              <a:t>3  Personas</a:t>
            </a:r>
          </a:p>
          <a:p>
            <a:pPr>
              <a:spcAft>
                <a:spcPts val="600"/>
              </a:spcAft>
              <a:defRPr sz="1400" b="0">
                <a:solidFill>
                  <a:srgbClr val="0B0B0B"/>
                </a:solidFill>
              </a:defRPr>
            </a:pPr>
            <a:r>
              <a:t>K-Means, 10 clusters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828800"/>
            <a:ext cx="1783080" cy="146304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1600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</a:defRPr>
            </a:pPr>
            <a:r>
              <a:t>4  Silver labels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cluster AND rule agree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828800"/>
            <a:ext cx="1783080" cy="1463040"/>
          </a:xfrm>
          <a:prstGeom prst="rect">
            <a:avLst/>
          </a:prstGeom>
          <a:solidFill>
            <a:srgbClr val="F4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920240"/>
            <a:ext cx="1600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B0B0B"/>
                </a:solidFill>
              </a:defRPr>
            </a:pPr>
            <a:r>
              <a:t>5  Models</a:t>
            </a:r>
          </a:p>
          <a:p>
            <a:pPr>
              <a:spcAft>
                <a:spcPts val="600"/>
              </a:spcAft>
              <a:defRPr sz="1400" b="0">
                <a:solidFill>
                  <a:srgbClr val="0B0B0B"/>
                </a:solidFill>
              </a:defRPr>
            </a:pPr>
            <a:r>
              <a:t>LR · RF · boosting, 5-fold search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49840" y="1828800"/>
            <a:ext cx="1783080" cy="1463040"/>
          </a:xfrm>
          <a:prstGeom prst="rect">
            <a:avLst/>
          </a:prstGeom>
          <a:solidFill>
            <a:srgbClr val="F4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0" y="1920240"/>
            <a:ext cx="1600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B0B0B"/>
                </a:solidFill>
              </a:defRPr>
            </a:pPr>
            <a:r>
              <a:t>6  Checks</a:t>
            </a:r>
          </a:p>
          <a:p>
            <a:pPr>
              <a:spcAft>
                <a:spcPts val="600"/>
              </a:spcAft>
              <a:defRPr sz="1400" b="0">
                <a:solidFill>
                  <a:srgbClr val="0B0B0B"/>
                </a:solidFill>
              </a:defRPr>
            </a:pPr>
            <a:r>
              <a:t>4 tests without our labels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49039"/>
            <a:ext cx="11155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0B0B0B"/>
                </a:solidFill>
              </a:defRPr>
            </a:pPr>
            <a:r>
              <a:t>Cluster view: the card sits in a persona whose median card spends ≥ 30% on business inputs.</a:t>
            </a:r>
          </a:p>
          <a:p>
            <a:pPr>
              <a:spcAft>
                <a:spcPts val="600"/>
              </a:spcAft>
              <a:defRPr sz="1600" b="0">
                <a:solidFill>
                  <a:srgbClr val="0B0B0B"/>
                </a:solidFill>
              </a:defRPr>
            </a:pPr>
            <a:r>
              <a:t>Rule view: ≥ 25% of spend on business inputs and ≥ 2 commercial merchants used repeatedly; &lt; 10% = clearly personal.</a:t>
            </a:r>
          </a:p>
          <a:p>
            <a:pPr>
              <a:spcAft>
                <a:spcPts val="600"/>
              </a:spcAft>
              <a:defRPr sz="1600" b="0">
                <a:solidFill>
                  <a:srgbClr val="0B0B0B"/>
                </a:solidFill>
              </a:defRPr>
            </a:pPr>
            <a:r>
              <a:t>Result: 9,757 positives, 50,912 negatives, 19,331 ambiguous cards left for the model.</a:t>
            </a:r>
          </a:p>
          <a:p>
            <a:pPr>
              <a:spcAft>
                <a:spcPts val="600"/>
              </a:spcAft>
              <a:defRPr sz="1600" b="0">
                <a:solidFill>
                  <a:srgbClr val="0B0B0B"/>
                </a:solidFill>
              </a:defRPr>
            </a:pPr>
            <a:r>
              <a:t>Card tier, bank and BIN never enter the model: they describe the product, not the behaviour.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EB6834"/>
                </a:solidFill>
              </a:defRPr>
            </a:pPr>
            <a:r>
              <a:t>UNSUPERVISED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B0B0B"/>
                </a:solidFill>
              </a:defRPr>
            </a:pPr>
            <a:r>
              <a:t>Six of ten consumer personas run a business</a:t>
            </a:r>
          </a:p>
        </p:txBody>
      </p:sp>
      <p:pic>
        <p:nvPicPr>
          <p:cNvPr id="5" name="Picture 4" descr="02_person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8778240" cy="38624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509760" y="1645920"/>
            <a:ext cx="2377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0B0B0B"/>
                </a:solidFill>
              </a:defRPr>
            </a:pPr>
            <a:r>
              <a:t>Stable: 99.8% same commercial split across random seeds.</a:t>
            </a:r>
          </a:p>
          <a:p>
            <a:pPr>
              <a:spcAft>
                <a:spcPts val="600"/>
              </a:spcAft>
              <a:defRPr sz="1400" b="0">
                <a:solidFill>
                  <a:srgbClr val="0B0B0B"/>
                </a:solidFill>
              </a:defRPr>
            </a:pPr>
            <a:r>
              <a:t>Resellers buy stock at building and food stores, where business cards never shop.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EB6834"/>
                </a:solidFill>
              </a:defRPr>
            </a:pPr>
            <a:r>
              <a:t>MODEL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B0B0B"/>
                </a:solidFill>
              </a:defRPr>
            </a:pPr>
            <a:r>
              <a:t>All models reproduce the labels; boosting handles partial business best</a:t>
            </a:r>
          </a:p>
        </p:txBody>
      </p:sp>
      <p:pic>
        <p:nvPicPr>
          <p:cNvPr id="5" name="Picture 4" descr="03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7680960" cy="2457907"/>
          </a:xfrm>
          <a:prstGeom prst="rect">
            <a:avLst/>
          </a:prstGeom>
        </p:spPr>
      </p:pic>
      <p:pic>
        <p:nvPicPr>
          <p:cNvPr id="6" name="Picture 5" descr="04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463040"/>
            <a:ext cx="384048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572000"/>
            <a:ext cx="7315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0B0B0B"/>
                </a:solidFill>
              </a:defRPr>
            </a:pPr>
            <a:r>
              <a:t>Champion: histogram gradient boosting, threshold 0.61 (max out-of-fold F0.5).</a:t>
            </a:r>
          </a:p>
          <a:p>
            <a:pPr>
              <a:spcAft>
                <a:spcPts val="600"/>
              </a:spcAft>
              <a:defRPr sz="1400" b="0">
                <a:solidFill>
                  <a:srgbClr val="0B0B0B"/>
                </a:solidFill>
              </a:defRPr>
            </a:pPr>
            <a:r>
              <a:t>Tie on PR-AUC is expected: silver labels keep clear cases only. The tie-break is sensitivity to cards with 5–30% business activity (0.72 vs 0.38–0.39).</a:t>
            </a:r>
          </a:p>
          <a:p>
            <a:pPr>
              <a:spcAft>
                <a:spcPts val="600"/>
              </a:spcAft>
              <a:defRPr sz="1400" b="0">
                <a:solidFill>
                  <a:srgbClr val="0B0B0B"/>
                </a:solidFill>
              </a:defRPr>
            </a:pPr>
            <a:r>
              <a:t>Boosting also scales: 80,000 cards scored in under a second.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EB6834"/>
                </a:solidFill>
              </a:defRPr>
            </a:pPr>
            <a:r>
              <a:t>DOES IT 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B0B0B"/>
                </a:solidFill>
              </a:defRPr>
            </a:pPr>
            <a:r>
              <a:t>Four checks that never use our labels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6400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0440"/>
                <a:gridCol w="288036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Check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Real business cards (never seen)</a:t>
                      </a:r>
                    </a:p>
                  </a:txBody>
                  <a:tcPr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99.99% flagged</a:t>
                      </a:r>
                    </a:p>
                  </a:txBody>
                  <a:tcPr>
                    <a:solidFill>
                      <a:srgbClr val="F4F3E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MCC-blind model (how, not what)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ROC-AUC 0.9995 · F1 0.995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Spike-in: clean consumer cards</a:t>
                      </a:r>
                    </a:p>
                  </a:txBody>
                  <a:tcPr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0% false alarms</a:t>
                      </a:r>
                    </a:p>
                  </a:txBody>
                  <a:tcPr>
                    <a:solidFill>
                      <a:srgbClr val="F4F3E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Spike-in: 10% / 20% business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65% / 88% caught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Same decision Oct–Dec vs Jan–Mar</a:t>
                      </a:r>
                    </a:p>
                  </a:txBody>
                  <a:tcPr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93.6% of cards</a:t>
                      </a:r>
                    </a:p>
                  </a:txBody>
                  <a:tcPr>
                    <a:solidFill>
                      <a:srgbClr val="F4F3E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06_spik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554480"/>
            <a:ext cx="4846320" cy="26841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5720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0B0B0B"/>
                </a:solidFill>
              </a:defRPr>
            </a:pPr>
            <a:r>
              <a:t>MCC-blind check: labels come from what people buy; a model that sees only tickets, timing and merchant concentration finds the same people. The personas are real behaviour.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EB6834"/>
                </a:solidFill>
              </a:defRPr>
            </a:pPr>
            <a:r>
              <a:t>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B0B0B"/>
                </a:solidFill>
              </a:defRPr>
            </a:pPr>
            <a:r>
              <a:t>Every flag comes with three reasons a banker can read</a:t>
            </a:r>
          </a:p>
        </p:txBody>
      </p:sp>
      <p:pic>
        <p:nvPicPr>
          <p:cNvPr id="5" name="Picture 4" descr="05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701040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55279" y="155448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B0B0B"/>
                </a:solidFill>
              </a:defRPr>
            </a:pPr>
            <a:r>
              <a:t>Examples</a:t>
            </a:r>
          </a:p>
          <a:p>
            <a:pPr>
              <a:spcAft>
                <a:spcPts val="600"/>
              </a:spcAft>
              <a:defRPr sz="1200" b="0">
                <a:solidFill>
                  <a:srgbClr val="0B0B0B"/>
                </a:solidFill>
              </a:defRPr>
            </a:pPr>
            <a:r>
              <a:t>533847******4836 · 2-likely: 41% of spend on stock (building materials, food); 54% of purchases in business categories; 18% of spend at wholesalers</a:t>
            </a:r>
          </a:p>
          <a:p>
            <a:pPr>
              <a:spcAft>
                <a:spcPts val="600"/>
              </a:spcAft>
              <a:defRPr sz="1200" b="0">
                <a:solidFill>
                  <a:srgbClr val="0B0B0B"/>
                </a:solidFill>
              </a:defRPr>
            </a:pPr>
            <a:r>
              <a:t>533847******4398 · 3-watchlist: 36% of purchases at wholesalers; 35% of spend at wholesalers; 37% of purchases in business categories</a:t>
            </a:r>
          </a:p>
          <a:p>
            <a:pPr>
              <a:spcAft>
                <a:spcPts val="600"/>
              </a:spcAft>
              <a:defRPr sz="1200" b="0">
                <a:solidFill>
                  <a:srgbClr val="0B0B0B"/>
                </a:solidFill>
              </a:defRPr>
            </a:pPr>
            <a:r>
              <a:t>522859******6420 · 1-confirmed: 96% of spend goes to business inputs; 64% of purchases in business categories; 30 purchases in business categories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EB6834"/>
                </a:solidFill>
              </a:defRPr>
            </a:pPr>
            <a: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B0B0B"/>
                </a:solidFill>
              </a:defRPr>
            </a:pPr>
            <a:r>
              <a:t>Who they are and what to offer</a:t>
            </a:r>
          </a:p>
        </p:txBody>
      </p:sp>
      <p:pic>
        <p:nvPicPr>
          <p:cNvPr id="5" name="Picture 4" descr="08_persona_pro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035040" cy="2715768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0" y="1463040"/>
          <a:ext cx="539495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2185"/>
                <a:gridCol w="755294"/>
                <a:gridCol w="269748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Persona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Cards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Offer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0B0B"/>
                          </a:solidFill>
                        </a:defRPr>
                      </a:pPr>
                      <a:r>
                        <a:t>Online seller / marketer</a:t>
                      </a:r>
                    </a:p>
                  </a:txBody>
                  <a:tcPr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0B0B"/>
                          </a:solidFill>
                        </a:defRPr>
                      </a:pPr>
                      <a:r>
                        <a:t>4,788</a:t>
                      </a:r>
                    </a:p>
                  </a:txBody>
                  <a:tcPr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0B0B"/>
                          </a:solidFill>
                        </a:defRPr>
                      </a:pPr>
                      <a:r>
                        <a:t>Card with ad cashback, FX for SaaS, payment links</a:t>
                      </a:r>
                    </a:p>
                  </a:txBody>
                  <a:tcPr>
                    <a:solidFill>
                      <a:srgbClr val="F4F3E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0B0B"/>
                          </a:solidFill>
                        </a:defRPr>
                      </a:pPr>
                      <a:r>
                        <a:t>Reseller (stock at retail)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0B0B"/>
                          </a:solidFill>
                        </a:defRPr>
                      </a:pPr>
                      <a:r>
                        <a:t>4,317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0B0B"/>
                          </a:solidFill>
                        </a:defRPr>
                      </a:pPr>
                      <a:r>
                        <a:t>QR/POS acquiring, inventory loan, IP registration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0B0B"/>
                          </a:solidFill>
                        </a:defRPr>
                      </a:pPr>
                      <a:r>
                        <a:t>Wholesale trader</a:t>
                      </a:r>
                    </a:p>
                  </a:txBody>
                  <a:tcPr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0B0B"/>
                          </a:solidFill>
                        </a:defRPr>
                      </a:pPr>
                      <a:r>
                        <a:t>2,187</a:t>
                      </a:r>
                    </a:p>
                  </a:txBody>
                  <a:tcPr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0B0B"/>
                          </a:solidFill>
                        </a:defRPr>
                      </a:pPr>
                      <a:r>
                        <a:t>Credit line, corporate card, payroll</a:t>
                      </a:r>
                    </a:p>
                  </a:txBody>
                  <a:tcPr>
                    <a:solidFill>
                      <a:srgbClr val="F4F3E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0B0B"/>
                          </a:solidFill>
                        </a:defRPr>
                      </a:pPr>
                      <a:r>
                        <a:t>Logistics trader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0B0B"/>
                          </a:solidFill>
                        </a:defRPr>
                      </a:pPr>
                      <a:r>
                        <a:t>486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B0B0B"/>
                          </a:solidFill>
                        </a:defRPr>
                      </a:pPr>
                      <a:r>
                        <a:t>Fleet/fuel card, acquiring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EB6834"/>
                </a:solidFill>
              </a:defRPr>
            </a:pPr>
            <a:r>
              <a:t>BUSINESS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B0B0B"/>
                </a:solidFill>
              </a:defRPr>
            </a:pPr>
            <a:r>
              <a:t>Start with 9,757 confirmed leads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6858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63140"/>
                <a:gridCol w="1165860"/>
                <a:gridCol w="20574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Rule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Cards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Commercial spend / year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1 confirmed</a:t>
                      </a:r>
                    </a:p>
                  </a:txBody>
                  <a:tcPr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model + cluster + rule</a:t>
                      </a:r>
                    </a:p>
                  </a:txBody>
                  <a:tcPr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9,757</a:t>
                      </a:r>
                    </a:p>
                  </a:txBody>
                  <a:tcPr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199.0 bn KZT</a:t>
                      </a:r>
                    </a:p>
                  </a:txBody>
                  <a:tcPr>
                    <a:solidFill>
                      <a:srgbClr val="F4F3E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2 likely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model + one 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3,199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32.5 bn KZT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3 watchlist</a:t>
                      </a:r>
                    </a:p>
                  </a:txBody>
                  <a:tcPr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model only</a:t>
                      </a:r>
                    </a:p>
                  </a:txBody>
                  <a:tcPr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1,484</a:t>
                      </a:r>
                    </a:p>
                  </a:txBody>
                  <a:tcPr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</a:defRPr>
                      </a:pPr>
                      <a:r>
                        <a:t>3.6 bn KZT</a:t>
                      </a:r>
                    </a:p>
                  </a:txBody>
                  <a:tcPr>
                    <a:solidFill>
                      <a:srgbClr val="F4F3E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0" y="15544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B0B0B"/>
                </a:solidFill>
              </a:defRPr>
            </a:pPr>
            <a:r>
              <a:t>≈ 347M KZT a year</a:t>
            </a:r>
          </a:p>
          <a:p>
            <a:pPr>
              <a:spcAft>
                <a:spcPts val="600"/>
              </a:spcAft>
              <a:defRPr sz="1600" b="0">
                <a:solidFill>
                  <a:srgbClr val="0B0B0B"/>
                </a:solidFill>
              </a:defRPr>
            </a:pPr>
            <a:r>
              <a:t>Illustrative: tiers 1–2, 15% conversion, +1% revenue on commercial spend after moving to a business tariff. Replace with the bank's own numbers.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23360"/>
            <a:ext cx="6858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0B0B0B"/>
                </a:solidFill>
              </a:defRPr>
            </a:pPr>
            <a:r>
              <a:t>4,683 flagged cards came from the ambiguous zone: the model adds leads the rules alone would not send.</a:t>
            </a:r>
          </a:p>
          <a:p>
            <a:pPr>
              <a:spcAft>
                <a:spcPts val="600"/>
              </a:spcAft>
              <a:defRPr sz="1400" b="0">
                <a:solidFill>
                  <a:srgbClr val="0B0B0B"/>
                </a:solidFill>
              </a:defRPr>
            </a:pPr>
            <a:r>
              <a:t>Use the score to offer a better product, never to report or reprice clients without consent.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EB6834"/>
                </a:solidFill>
              </a:defRPr>
            </a:pPr>
            <a:r>
              <a:t>HONEST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B0B0B"/>
                </a:solidFill>
              </a:defRPr>
            </a:pPr>
            <a:r>
              <a:t>Limitations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0B0B"/>
                </a:solidFill>
              </a:defRPr>
            </a:pPr>
            <a:r>
              <a:t>Limitations</a:t>
            </a:r>
          </a:p>
          <a:p>
            <a:pPr>
              <a:spcAft>
                <a:spcPts val="600"/>
              </a:spcAft>
              <a:defRPr sz="1500" b="0">
                <a:solidFill>
                  <a:srgbClr val="0B0B0B"/>
                </a:solidFill>
              </a:defRPr>
            </a:pPr>
            <a:r>
              <a:t>Synthetic data with clean personas: real scores will be lower.</a:t>
            </a:r>
          </a:p>
          <a:p>
            <a:pPr>
              <a:spcAft>
                <a:spcPts val="600"/>
              </a:spcAft>
              <a:defRPr sz="1500" b="0">
                <a:solidFill>
                  <a:srgbClr val="0B0B0B"/>
                </a:solidFill>
              </a:defRPr>
            </a:pPr>
            <a:r>
              <a:t>Silver labels come from my own cluster model and rule.</a:t>
            </a:r>
          </a:p>
          <a:p>
            <a:pPr>
              <a:spcAft>
                <a:spcPts val="600"/>
              </a:spcAft>
              <a:defRPr sz="1500" b="0">
                <a:solidFill>
                  <a:srgbClr val="0B0B0B"/>
                </a:solidFill>
              </a:defRPr>
            </a:pPr>
            <a:r>
              <a:t>Spend side only: the brief mentions incoming payments from many counterparties, which the data does not include.</a:t>
            </a:r>
          </a:p>
          <a:p>
            <a:pPr>
              <a:spcAft>
                <a:spcPts val="600"/>
              </a:spcAft>
              <a:defRPr sz="1500" b="0">
                <a:solidFill>
                  <a:srgbClr val="0B0B0B"/>
                </a:solidFill>
              </a:defRPr>
            </a:pPr>
            <a:r>
              <a:t>MCC dictionary is expert-made and needs product-team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0B0B"/>
                </a:solidFill>
              </a:defRPr>
            </a:pPr>
            <a:r>
              <a:t>Next steps</a:t>
            </a:r>
          </a:p>
          <a:p>
            <a:pPr>
              <a:spcAft>
                <a:spcPts val="600"/>
              </a:spcAft>
              <a:defRPr sz="1500" b="0">
                <a:solidFill>
                  <a:srgbClr val="0B0B0B"/>
                </a:solidFill>
              </a:defRPr>
            </a:pPr>
            <a:r>
              <a:t>Pilot: managers call a random sample per tier; outcomes become real labels; retrain.</a:t>
            </a:r>
          </a:p>
          <a:p>
            <a:pPr>
              <a:spcAft>
                <a:spcPts val="600"/>
              </a:spcAft>
              <a:defRPr sz="1500" b="0">
                <a:solidFill>
                  <a:srgbClr val="0B0B0B"/>
                </a:solidFill>
              </a:defRPr>
            </a:pPr>
            <a:r>
              <a:t>Add inflow features: distinct senders, regular incoming transfers.</a:t>
            </a:r>
          </a:p>
          <a:p>
            <a:pPr>
              <a:spcAft>
                <a:spcPts val="600"/>
              </a:spcAft>
              <a:defRPr sz="1500" b="0">
                <a:solidFill>
                  <a:srgbClr val="0B0B0B"/>
                </a:solidFill>
              </a:defRPr>
            </a:pPr>
            <a:r>
              <a:t>Monthly re-scoring with drift monitoring on features and persona sizes.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